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தமிழில் Python நிரலாக்கக் கல்வி</a:t>
            </a:r>
          </a:p>
          <a:p>
            <a:pPr>
              <a:defRPr sz="2800" b="0">
                <a:solidFill>
                  <a:srgbClr val="34A0B4"/>
                </a:solidFill>
                <a:latin typeface="Noto Sans"/>
              </a:defRPr>
            </a:pPr>
            <a:r>
              <a:t>Localizing Python Programming Education in Tamil</a:t>
            </a:r>
          </a:p>
          <a:p>
            <a:pPr>
              <a:defRPr sz="2200" b="0">
                <a:solidFill>
                  <a:srgbClr val="E6AA3C"/>
                </a:solidFill>
                <a:latin typeface="Noto Sans"/>
              </a:defRPr>
            </a:pPr>
            <a:r>
              <a:t>Thonny IDE  •  FutureCoder  •  Byte of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Noto Sans"/>
              </a:defRPr>
            </a:pPr>
            <a:r>
              <a:t>ஒரு திறந்த மூல மொழிபெயர்ப்பு முயற்சி — கற்றல் வளங்களை மொழித்தடையின்றி அணுகச் செய்வது</a:t>
            </a:r>
          </a:p>
          <a:p>
            <a:pPr>
              <a:defRPr sz="1700">
                <a:solidFill>
                  <a:srgbClr val="BEC8D7"/>
                </a:solidFill>
                <a:latin typeface="Noto Sans"/>
              </a:defRPr>
            </a:pPr>
            <a:r>
              <a:t>Conference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Why Tamil Localization?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மொழி என்பது உள்ளடக்கத்தின் மீது இருக்கும் கூடுதல் அடுக்கு அல்ல — கற்றலின் ஒரு பகுதி.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206240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45336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Language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310896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Python கற்றலுக்கான பல தரமான வளங்கள் ஆங்கிலத்தை மையமாகக் கொண்டுள்ளன.</a:t>
            </a:r>
            <a:br/>
            <a:br/>
            <a:r>
              <a:t>Technical vocabulary + instructions + error messages ஆகியவை தொடக்கநிலையாளர்களுக்கு கூடுதல் சுமையை உருவாக்கலாம்.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420624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45336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Tamil-first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310896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கருத்தை முதலில் புரிந்துகொண்டு, பின்னர் Python-ன் ஆங்கில syntax மற்றும் terminology-ஐ இயல்பாகக் கற்றுக்கொள்ளும் வாய்ப்பு.</a:t>
            </a:r>
            <a:br/>
            <a:br/>
            <a:r>
              <a:t>தமிழில் வழிகாட்டுதல் → குறைந்த cognitive load → அதிக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73152" cy="4206240"/>
          </a:xfrm>
          <a:prstGeom prst="rect">
            <a:avLst/>
          </a:prstGeom>
          <a:solidFill>
            <a:srgbClr val="3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45336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Open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57400"/>
            <a:ext cx="310896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திறந்த மூல வளங்களை தமிழில் கொண்டு வருவது தனிப்பட்ட மொழிபெயர்ப்பு மட்டுமல்ல.</a:t>
            </a:r>
            <a:br/>
            <a:br/>
            <a:r>
              <a:t>ஆசிரியர்கள், மாணவர்கள், சமூகங்கள் தொடர்ந்து மேம்படுத்தக்கூடிய learning infrastructure.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Three complementary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IDE + interactive course + reference 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53895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Thonny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65960"/>
            <a:ext cx="32004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Beginner-friendly Python IDE.</a:t>
            </a:r>
            <a:br/>
            <a:br/>
            <a:r>
              <a:t>• Simple interface</a:t>
            </a:r>
            <a:br/>
            <a:r>
              <a:t>• Visual debugger</a:t>
            </a:r>
            <a:br/>
            <a:r>
              <a:t>• Variables / execution visualization</a:t>
            </a:r>
            <a:br/>
            <a:r>
              <a:t>• Beginner-friendly error highlighting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73152" cy="4480560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453895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FutureCoder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65960"/>
            <a:ext cx="32004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Interactive, free and open-source Python course.</a:t>
            </a:r>
            <a:br/>
            <a:br/>
            <a:r>
              <a:t>• Run code while learning</a:t>
            </a:r>
            <a:br/>
            <a:r>
              <a:t>• Automated assessment</a:t>
            </a:r>
            <a:br/>
            <a:r>
              <a:t>• Debugging tools</a:t>
            </a:r>
            <a:br/>
            <a:r>
              <a:t>• Enhanced error messages</a:t>
            </a:r>
            <a:br/>
            <a:r>
              <a:t>• Parsons problems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325880"/>
            <a:ext cx="73152" cy="448056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453895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Byte of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965960"/>
            <a:ext cx="32004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Concise Python learning book translated into Tamil.</a:t>
            </a:r>
            <a:br/>
            <a:br/>
            <a:r>
              <a:t>• Beginner-oriented reference</a:t>
            </a:r>
            <a:br/>
            <a:r>
              <a:t>• Tamil ebook / web edition</a:t>
            </a:r>
            <a:br/>
            <a:r>
              <a:t>• Code examples retained</a:t>
            </a:r>
            <a:br/>
            <a:r>
              <a:t>• Open licensing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Work 1 — Thonny: Tamil-friendly Python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Thonny describes itself as a “Python IDE for beginners.”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IDE-யின் user-facing text-ஐ தமிழில் கொண்டு வந்து ஆரம்பநிலை coding experience-ஐ எளிமைப்படுத்துதல்.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முக்கிய பகுதிகள்: menus, dialogs, prompts, messages, help text மற்றும் debugger-related UI.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Visual debugging மற்றும் variable inspection போன்ற learning-oriented features மொழித்தடையுடன் சேர்ந்து மறையாமல் இருக்க வேண்டும்.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Localization என்பது சொல்-மாற்றம் மட்டும் அல்ல: UI length, terminology consistency, punctuation, keyboard shortcuts மற்றும் code tokens ஆகியவற்றையும் பாதுகாக்க வேண்டும்.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Thonny-யின் official site beginner-focused interface, debugger, variable view, syntax-error highlighting மற்றும் package management போன்ற அம்சங்களை குறிப்பிடுகிறது.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Work 2 — FutureCoder: Interactive Tamil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முழுமையான ஆரம்பநிலையாளர்களுக்காக வடிவமைக்கப்பட்ட open-source learning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தமிழ் பதிப்பு: ta.futurecoder.io — கற்றல் வழிமுறைகள், பயிற்சி உரைகள் மற்றும் user-facing learning experience தமிழில்.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மாணவர் code-ஐ editor / shell-ல் இயக்கி, பதிலளித்து, அடுத்த கட்டத்திற்குச் செல்கிறார் — passive reading-க்கு பதிலாக active learning.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Enhanced error messages: Python traceback-ஐ பயமுறுத்தும் output-இலிருந்து வழிகாட்டும் feedback-ஆக மாற்றுவது.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Debugging tools execution-ஐ காட்சிப்படுத்தி, “என்ன நடந்தது?” என்பதைப் புரிந்துகொள்ள உதவுகின்றன.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Parsons problems மற்றும் solution breadcrumbs frustration-ஐ குறைத்தாலும் problem-solving-ஐ தக்கவைக்கின்றன.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Work 3 — Byte of Python: Tamil reference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“மலைப்பாம்புக்கடி” — Python-ஐ தமிழில் அறிமுகப்படுத்தும் reference resource.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Byte of Python translations page-ன் படி TamilNeram குழு Tamil translation-ஐ நிறைவு செய்துள்ளது.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Web edition: TACE16.github.io/PyBy — தமிழில் படிக்கவும் source repository-ஐ அணுகவும் முடியும்.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Code examples-ல் Python syntax மாறாமல் இருக்க வேண்டும்; explanation மட்டும் தமிழாக்கம் பெறுகிறது.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தமிழ் edition தளத்தில் Creative Commons Attribution-ShareAlike 4.0 உரிமம் குறிப்பிடப்பட்டுள்ளது.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இதன் மூலம் classroom teaching, self-learning மற்றும் offline ebook usage ஆகியவற்றுக்கு தமிழ் reference கிடைக்கிறது.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Localization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Technical translation → educational localization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53895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Noto Sans"/>
              </a:defRPr>
            </a:pPr>
            <a:r>
              <a:t>1. Normalize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30632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  <a:latin typeface="Noto Sans"/>
              </a:defRPr>
            </a:pPr>
            <a:r>
              <a:t>மூல உரை, markup, whitespace மற்றும் placeholders-ஐ பாதுகாத்தல்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1874519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453895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Noto Sans"/>
              </a:defRPr>
            </a:pPr>
            <a:r>
              <a:t>2. 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30632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  <a:latin typeface="Noto Sans"/>
              </a:defRPr>
            </a:pPr>
            <a:r>
              <a:t>சூழலுக்கு ஏற்ற இயல்பான தமிழ்; literal translation-ஐ தவிர்த்தல்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73152" cy="1874519"/>
          </a:xfrm>
          <a:prstGeom prst="rect">
            <a:avLst/>
          </a:prstGeom>
          <a:solidFill>
            <a:srgbClr val="3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453895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Noto Sans"/>
              </a:defRPr>
            </a:pPr>
            <a:r>
              <a:t>3. Protect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965960"/>
            <a:ext cx="30632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  <a:latin typeface="Noto Sans"/>
              </a:defRPr>
            </a:pPr>
            <a:r>
              <a:t>Python keywords, identifiers, API names, paths, commands மாற்றப்படாமல் வைத்தல்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73152" cy="1874519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694176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Noto Sans"/>
              </a:defRPr>
            </a:pPr>
            <a:r>
              <a:t>4. Terminology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06240"/>
            <a:ext cx="30632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  <a:latin typeface="Noto Sans"/>
              </a:defRPr>
            </a:pPr>
            <a:r>
              <a:t>ஒரே கருத்துக்கு ஒரே தமிழ் சொல் / bilingual term; glossary-driven consistency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73152" cy="1874519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694176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Noto Sans"/>
              </a:defRPr>
            </a:pPr>
            <a:r>
              <a:t>5.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206240"/>
            <a:ext cx="30632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  <a:latin typeface="Noto Sans"/>
              </a:defRPr>
            </a:pPr>
            <a:r>
              <a:t>placeholders, markup, punctuation, code snippets மற்றும் UI constraints சரிபார்ப்பு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566160"/>
            <a:ext cx="73152" cy="1874519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694176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Noto Sans"/>
              </a:defRPr>
            </a:pPr>
            <a:r>
              <a:t>6.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206240"/>
            <a:ext cx="30632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  <a:latin typeface="Noto Sans"/>
              </a:defRPr>
            </a:pPr>
            <a:r>
              <a:t>மொழி + Python அறிவு கொண்ட reviewer மூலம் pedagogical 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Key challenges in Tamil technical 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Programming localization differs from ordinary translation.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Terminology tension — “variable”, “function”, “loop”, “debugger”, “exception” போன்ற சொற்களை முழுமையாக தமிழாக்கலாமா, bilingual-ஆக வைத்திருக்கலாமா?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Code integrity — explanation தமிழில் இருந்தாலும் executable code மற்றும் syntax identifiers பாதிக்கப்படக்கூடாது.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UI constraints — நீளமான தமிழ் சொற்கள் buttons, menus, dialogs ஆகியவற்றில் overflow ஏற்படுத்தலாம்.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Pedagogical tone — textbook translation போல இல்லாமல், ஆசிரியர் மாணவரிடம் நேரடியாகப் பேசுவது போன்ற இயல்பான மொழி தேவை.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Consistency at scale — glossary, translation memory மற்றும் automated validation முக்கியமானவை.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A reusable Tamil localization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Linguistic QA is integrated into the build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057400"/>
            <a:ext cx="73152" cy="13258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85416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English UI / course / 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38862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3664" y="3886200"/>
            <a:ext cx="73152" cy="1325880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4014215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45262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Unicode + markup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0574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2057400"/>
            <a:ext cx="73152" cy="132588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2185416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TM / Glossary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6974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Approved Tamil terms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38862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28032" y="3886200"/>
            <a:ext cx="73152" cy="1325880"/>
          </a:xfrm>
          <a:prstGeom prst="rect">
            <a:avLst/>
          </a:prstGeom>
          <a:solidFill>
            <a:srgbClr val="3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014215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5262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Placeholders +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20574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0216" y="2057400"/>
            <a:ext cx="73152" cy="13258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2185416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Translate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26974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Tamil localization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8862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3886200"/>
            <a:ext cx="73152" cy="1325880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4014215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5262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Structure + formatting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4584" y="20574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44584" y="2057400"/>
            <a:ext cx="73152" cy="132588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185416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26974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Human QA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16768" y="3886200"/>
            <a:ext cx="129844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16768" y="3886200"/>
            <a:ext cx="73152" cy="1325880"/>
          </a:xfrm>
          <a:prstGeom prst="rect">
            <a:avLst/>
          </a:prstGeom>
          <a:solidFill>
            <a:srgbClr val="3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7936" y="4014215"/>
            <a:ext cx="9326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Noto Sans"/>
              </a:defRPr>
            </a:pPr>
            <a:r>
              <a:t>Publish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7936" y="4526280"/>
            <a:ext cx="93268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3282D"/>
                </a:solidFill>
                <a:latin typeface="Noto Sans"/>
              </a:defRPr>
            </a:pPr>
            <a:r>
              <a:t>Website / IDE / ebook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Expected educational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From “understanding English” to “understanding programming”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206240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9616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310896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• Lower entry barrier</a:t>
            </a:r>
            <a:br/>
            <a:r>
              <a:t>• More confidence while experimenting</a:t>
            </a:r>
            <a:br/>
            <a:r>
              <a:t>• Better comprehension of error messages</a:t>
            </a:r>
            <a:br/>
            <a:r>
              <a:t>• More time spent writing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73152" cy="420624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99616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Teachers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0896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• Ready-to-use Tamil resources</a:t>
            </a:r>
            <a:br/>
            <a:r>
              <a:t>• Easier classroom explanation</a:t>
            </a:r>
            <a:br/>
            <a:r>
              <a:t>• Common terminology across materials</a:t>
            </a:r>
            <a:br/>
            <a:r>
              <a:t>• Better support for self-learning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7160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371600"/>
            <a:ext cx="73152" cy="4206240"/>
          </a:xfrm>
          <a:prstGeom prst="rect">
            <a:avLst/>
          </a:prstGeom>
          <a:solidFill>
            <a:srgbClr val="3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99616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33C"/>
                </a:solidFill>
                <a:latin typeface="Noto Sans"/>
              </a:defRPr>
            </a:pPr>
            <a: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3108960" cy="342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82D"/>
                </a:solidFill>
                <a:latin typeface="Noto Sans"/>
              </a:defRPr>
            </a:pPr>
            <a:r>
              <a:t>• Open educational resources</a:t>
            </a:r>
            <a:br/>
            <a:r>
              <a:t>• Local contributors can improve translations</a:t>
            </a:r>
            <a:br/>
            <a:r>
              <a:t>• Reusable glossary / translation memory</a:t>
            </a:r>
            <a:br/>
            <a:r>
              <a:t>• Foundation for future Tamil STEM localization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Roadmap — from translation to an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Upstream projects evolve as Python evolves: Tamil localization must evolve with them.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Build a shared Tamil technical glossary for Python, programming and computing education.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Automate regression checks for untranslated strings, placeholders, markup and terminology.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Develop Tamil learning examples that connect Python concepts to familiar local contexts — without changing technical correctness.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Invite educators, translators, developers and students to review and contribute.</a:t>
            </a:r>
          </a:p>
          <a:p>
            <a:pPr>
              <a:spcAft>
                <a:spcPts val="1200"/>
              </a:spcAft>
              <a:defRPr sz="1900">
                <a:solidFill>
                  <a:srgbClr val="23282D"/>
                </a:solidFill>
                <a:latin typeface="Noto Sans"/>
              </a:defRPr>
            </a:pPr>
            <a:r>
              <a:t>• Measure outcomes: completion rates, learner confidence, error comprehension and classroom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Noto Sans"/>
              </a:defRPr>
            </a:pPr>
            <a:r>
              <a:t>மொழிபெயர்ப்பு மட்டும் அல்ல — அறிவு அணுகலின் உள்ளூர்மயமாக்கல்</a:t>
            </a:r>
          </a:p>
          <a:p>
            <a:pPr>
              <a:defRPr sz="2200">
                <a:solidFill>
                  <a:srgbClr val="34A0B4"/>
                </a:solidFill>
                <a:latin typeface="Noto Sans"/>
              </a:defRPr>
            </a:pPr>
            <a:r>
              <a:t>Not just translation — localization of access to 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1460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73152" cy="2148840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642616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C"/>
                </a:solidFill>
                <a:latin typeface="Noto Sans"/>
              </a:defRPr>
            </a:pPr>
            <a:r>
              <a:t>Thonny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154680"/>
            <a:ext cx="2788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82D"/>
                </a:solidFill>
                <a:latin typeface="Noto Sans"/>
              </a:defRPr>
            </a:pPr>
            <a:r>
              <a:t>Tamil-friendly Python development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51460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2514600"/>
            <a:ext cx="73152" cy="214884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642616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C"/>
                </a:solidFill>
                <a:latin typeface="Noto Sans"/>
              </a:defRPr>
            </a:pPr>
            <a:r>
              <a:t>FutureCoder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154680"/>
            <a:ext cx="2788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82D"/>
                </a:solidFill>
                <a:latin typeface="Noto Sans"/>
              </a:defRPr>
            </a:pPr>
            <a:r>
              <a:t>Interactive Python learning in Tamil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1460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514600"/>
            <a:ext cx="73152" cy="2148840"/>
          </a:xfrm>
          <a:prstGeom prst="rect">
            <a:avLst/>
          </a:prstGeom>
          <a:solidFill>
            <a:srgbClr val="3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2642616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4233C"/>
                </a:solidFill>
                <a:latin typeface="Noto Sans"/>
              </a:defRPr>
            </a:pPr>
            <a:r>
              <a:t>Byte of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3154680"/>
            <a:ext cx="2788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82D"/>
                </a:solidFill>
                <a:latin typeface="Noto Sans"/>
              </a:defRPr>
            </a:pPr>
            <a:r>
              <a:t>Tamil reference material for self-learning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  <a:latin typeface="Noto Sans"/>
              </a:defRPr>
            </a:pPr>
            <a:r>
              <a:t>தமிழில் Python கற்றலை எளிதாக்கி, திறந்த அறிவை மேலும் பலரிடம் கொண்டு செல்வதே நோக்கம்.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Sources &amp; project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B8C"/>
                </a:solidFill>
                <a:latin typeface="Noto Sans"/>
              </a:defRPr>
            </a:pPr>
            <a:r>
              <a:t>Official / project pages used for the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749808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62456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Noto Sans"/>
              </a:defRPr>
            </a:pPr>
            <a:r>
              <a:t>Thonny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74519"/>
            <a:ext cx="1042416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82D"/>
                </a:solidFill>
                <a:latin typeface="Noto Sans"/>
              </a:defRPr>
            </a:pPr>
            <a:r>
              <a:t>Official beginner IDE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6648C"/>
                </a:solidFill>
                <a:latin typeface="Noto Sans"/>
              </a:defRPr>
            </a:pPr>
            <a:r>
              <a:t>https://thonny.org/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67128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67128"/>
            <a:ext cx="73152" cy="749808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295144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Noto Sans"/>
              </a:defRPr>
            </a:pPr>
            <a:r>
              <a:t>FutureCoder Tamil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07208"/>
            <a:ext cx="1042416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82D"/>
                </a:solidFill>
                <a:latin typeface="Noto Sans"/>
              </a:defRPr>
            </a:pPr>
            <a:r>
              <a:t>Tamil interactive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50008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6648C"/>
                </a:solidFill>
                <a:latin typeface="Noto Sans"/>
              </a:defRPr>
            </a:pPr>
            <a:r>
              <a:t>https://ta.futurecoder.io/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99816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099816"/>
            <a:ext cx="73152" cy="749808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22783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Noto Sans"/>
              </a:defRPr>
            </a:pPr>
            <a:r>
              <a:t>FutureCoder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39896"/>
            <a:ext cx="1042416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82D"/>
                </a:solidFill>
                <a:latin typeface="Noto Sans"/>
              </a:defRPr>
            </a:pPr>
            <a:r>
              <a:t>Open-source project goals and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82696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6648C"/>
                </a:solidFill>
                <a:latin typeface="Noto Sans"/>
              </a:defRPr>
            </a:pPr>
            <a:r>
              <a:t>https://futurecoder.io/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32504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32504"/>
            <a:ext cx="73152" cy="749808"/>
          </a:xfrm>
          <a:prstGeom prst="rect">
            <a:avLst/>
          </a:prstGeom>
          <a:solidFill>
            <a:srgbClr val="34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16052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Noto Sans"/>
              </a:defRPr>
            </a:pPr>
            <a:r>
              <a:t>Byte of Python — Tamil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672584"/>
            <a:ext cx="1042416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82D"/>
                </a:solidFill>
                <a:latin typeface="Noto Sans"/>
              </a:defRPr>
            </a:pPr>
            <a:r>
              <a:t>Tamil edition and licensing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15384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6648C"/>
                </a:solidFill>
                <a:latin typeface="Noto Sans"/>
              </a:defRPr>
            </a:pPr>
            <a:r>
              <a:t>https://tace16.github.io/PyBy/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65192"/>
            <a:ext cx="10789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965192"/>
            <a:ext cx="73152" cy="749808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093207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Noto Sans"/>
              </a:defRPr>
            </a:pPr>
            <a:r>
              <a:t>Byte of Python — translations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605272"/>
            <a:ext cx="1042416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82D"/>
                </a:solidFill>
                <a:latin typeface="Noto Sans"/>
              </a:defRPr>
            </a:pPr>
            <a:r>
              <a:t>Tamil translation credit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4807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6648C"/>
                </a:solidFill>
                <a:latin typeface="Noto Sans"/>
              </a:defRPr>
            </a:pPr>
            <a:r>
              <a:t>https://python.swaroopch.com/translations.html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D82"/>
                </a:solidFill>
                <a:latin typeface="Noto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